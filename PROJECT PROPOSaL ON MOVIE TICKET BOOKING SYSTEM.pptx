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2" r:id="rId6"/>
    <p:sldId id="263" r:id="rId7"/>
    <p:sldId id="264" r:id="rId8"/>
    <p:sldId id="266" r:id="rId9"/>
    <p:sldId id="260" r:id="rId10"/>
    <p:sldId id="261"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0" d="100"/>
          <a:sy n="60" d="100"/>
        </p:scale>
        <p:origin x="4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22D88-EB92-91C3-C854-928F172050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5D3B3A-A7E5-B532-5A52-5E526C7282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FE7368-05CF-EB23-46C2-F92674B18D30}"/>
              </a:ext>
            </a:extLst>
          </p:cNvPr>
          <p:cNvSpPr>
            <a:spLocks noGrp="1"/>
          </p:cNvSpPr>
          <p:nvPr>
            <p:ph type="dt" sz="half" idx="10"/>
          </p:nvPr>
        </p:nvSpPr>
        <p:spPr/>
        <p:txBody>
          <a:bodyPr/>
          <a:lstStyle/>
          <a:p>
            <a:fld id="{AC40B917-FA20-4077-B6B4-678DBFC335A8}" type="datetimeFigureOut">
              <a:rPr lang="en-US" smtClean="0"/>
              <a:t>7/1/2026</a:t>
            </a:fld>
            <a:endParaRPr lang="en-US"/>
          </a:p>
        </p:txBody>
      </p:sp>
      <p:sp>
        <p:nvSpPr>
          <p:cNvPr id="5" name="Footer Placeholder 4">
            <a:extLst>
              <a:ext uri="{FF2B5EF4-FFF2-40B4-BE49-F238E27FC236}">
                <a16:creationId xmlns:a16="http://schemas.microsoft.com/office/drawing/2014/main" id="{FC48C2C8-1E33-06A9-11B0-D2428F600B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555513-2BE3-50D4-E23E-4A637F0E85F2}"/>
              </a:ext>
            </a:extLst>
          </p:cNvPr>
          <p:cNvSpPr>
            <a:spLocks noGrp="1"/>
          </p:cNvSpPr>
          <p:nvPr>
            <p:ph type="sldNum" sz="quarter" idx="12"/>
          </p:nvPr>
        </p:nvSpPr>
        <p:spPr/>
        <p:txBody>
          <a:bodyPr/>
          <a:lstStyle/>
          <a:p>
            <a:fld id="{6754CD52-0E05-4E56-9EF4-700CA7ED4F36}" type="slidenum">
              <a:rPr lang="en-US" smtClean="0"/>
              <a:t>‹#›</a:t>
            </a:fld>
            <a:endParaRPr lang="en-US"/>
          </a:p>
        </p:txBody>
      </p:sp>
    </p:spTree>
    <p:extLst>
      <p:ext uri="{BB962C8B-B14F-4D97-AF65-F5344CB8AC3E}">
        <p14:creationId xmlns:p14="http://schemas.microsoft.com/office/powerpoint/2010/main" val="23045871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3C3B2-E466-F528-3CFC-9EB98A67A4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76896C-5570-83CC-4FCB-4C6803F2B3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490AD2-E201-448F-C4F9-C370788CB9D4}"/>
              </a:ext>
            </a:extLst>
          </p:cNvPr>
          <p:cNvSpPr>
            <a:spLocks noGrp="1"/>
          </p:cNvSpPr>
          <p:nvPr>
            <p:ph type="dt" sz="half" idx="10"/>
          </p:nvPr>
        </p:nvSpPr>
        <p:spPr/>
        <p:txBody>
          <a:bodyPr/>
          <a:lstStyle/>
          <a:p>
            <a:fld id="{AC40B917-FA20-4077-B6B4-678DBFC335A8}" type="datetimeFigureOut">
              <a:rPr lang="en-US" smtClean="0"/>
              <a:t>7/1/2026</a:t>
            </a:fld>
            <a:endParaRPr lang="en-US"/>
          </a:p>
        </p:txBody>
      </p:sp>
      <p:sp>
        <p:nvSpPr>
          <p:cNvPr id="5" name="Footer Placeholder 4">
            <a:extLst>
              <a:ext uri="{FF2B5EF4-FFF2-40B4-BE49-F238E27FC236}">
                <a16:creationId xmlns:a16="http://schemas.microsoft.com/office/drawing/2014/main" id="{DDB88102-F7DF-D01A-0D71-52213701E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CE5F71-A62B-C430-4076-C232468214BC}"/>
              </a:ext>
            </a:extLst>
          </p:cNvPr>
          <p:cNvSpPr>
            <a:spLocks noGrp="1"/>
          </p:cNvSpPr>
          <p:nvPr>
            <p:ph type="sldNum" sz="quarter" idx="12"/>
          </p:nvPr>
        </p:nvSpPr>
        <p:spPr/>
        <p:txBody>
          <a:bodyPr/>
          <a:lstStyle/>
          <a:p>
            <a:fld id="{6754CD52-0E05-4E56-9EF4-700CA7ED4F36}" type="slidenum">
              <a:rPr lang="en-US" smtClean="0"/>
              <a:t>‹#›</a:t>
            </a:fld>
            <a:endParaRPr lang="en-US"/>
          </a:p>
        </p:txBody>
      </p:sp>
    </p:spTree>
    <p:extLst>
      <p:ext uri="{BB962C8B-B14F-4D97-AF65-F5344CB8AC3E}">
        <p14:creationId xmlns:p14="http://schemas.microsoft.com/office/powerpoint/2010/main" val="12777786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9A4B-C480-14FE-9039-D1307E41A9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9F73D2-4FB3-EDBD-150E-01547131EB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C37A64-B92A-33FB-AB87-0BFBEA5E41A6}"/>
              </a:ext>
            </a:extLst>
          </p:cNvPr>
          <p:cNvSpPr>
            <a:spLocks noGrp="1"/>
          </p:cNvSpPr>
          <p:nvPr>
            <p:ph type="dt" sz="half" idx="10"/>
          </p:nvPr>
        </p:nvSpPr>
        <p:spPr/>
        <p:txBody>
          <a:bodyPr/>
          <a:lstStyle/>
          <a:p>
            <a:fld id="{AC40B917-FA20-4077-B6B4-678DBFC335A8}" type="datetimeFigureOut">
              <a:rPr lang="en-US" smtClean="0"/>
              <a:t>7/1/2026</a:t>
            </a:fld>
            <a:endParaRPr lang="en-US"/>
          </a:p>
        </p:txBody>
      </p:sp>
      <p:sp>
        <p:nvSpPr>
          <p:cNvPr id="5" name="Footer Placeholder 4">
            <a:extLst>
              <a:ext uri="{FF2B5EF4-FFF2-40B4-BE49-F238E27FC236}">
                <a16:creationId xmlns:a16="http://schemas.microsoft.com/office/drawing/2014/main" id="{64E5EF1F-8421-8906-9032-4310A92494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D08AE0-2EA7-41ED-D229-166BA5E5F8A3}"/>
              </a:ext>
            </a:extLst>
          </p:cNvPr>
          <p:cNvSpPr>
            <a:spLocks noGrp="1"/>
          </p:cNvSpPr>
          <p:nvPr>
            <p:ph type="sldNum" sz="quarter" idx="12"/>
          </p:nvPr>
        </p:nvSpPr>
        <p:spPr/>
        <p:txBody>
          <a:bodyPr/>
          <a:lstStyle/>
          <a:p>
            <a:fld id="{6754CD52-0E05-4E56-9EF4-700CA7ED4F36}" type="slidenum">
              <a:rPr lang="en-US" smtClean="0"/>
              <a:t>‹#›</a:t>
            </a:fld>
            <a:endParaRPr lang="en-US"/>
          </a:p>
        </p:txBody>
      </p:sp>
    </p:spTree>
    <p:extLst>
      <p:ext uri="{BB962C8B-B14F-4D97-AF65-F5344CB8AC3E}">
        <p14:creationId xmlns:p14="http://schemas.microsoft.com/office/powerpoint/2010/main" val="17220431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9DCF7-A179-4895-C4B8-8A1AD14D84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029804-7CAD-50E1-E902-BAFF8AAF15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91225D-AC3B-0116-F75A-9EF8B0D149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74B5BF-DA99-F120-32C6-8251629D8E7B}"/>
              </a:ext>
            </a:extLst>
          </p:cNvPr>
          <p:cNvSpPr>
            <a:spLocks noGrp="1"/>
          </p:cNvSpPr>
          <p:nvPr>
            <p:ph type="dt" sz="half" idx="10"/>
          </p:nvPr>
        </p:nvSpPr>
        <p:spPr/>
        <p:txBody>
          <a:bodyPr/>
          <a:lstStyle/>
          <a:p>
            <a:fld id="{AC40B917-FA20-4077-B6B4-678DBFC335A8}" type="datetimeFigureOut">
              <a:rPr lang="en-US" smtClean="0"/>
              <a:t>7/1/2026</a:t>
            </a:fld>
            <a:endParaRPr lang="en-US"/>
          </a:p>
        </p:txBody>
      </p:sp>
      <p:sp>
        <p:nvSpPr>
          <p:cNvPr id="6" name="Footer Placeholder 5">
            <a:extLst>
              <a:ext uri="{FF2B5EF4-FFF2-40B4-BE49-F238E27FC236}">
                <a16:creationId xmlns:a16="http://schemas.microsoft.com/office/drawing/2014/main" id="{17747346-2766-CC57-C17C-9310B4C621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BEC2A5-84DD-F186-0AD9-60745C0D9337}"/>
              </a:ext>
            </a:extLst>
          </p:cNvPr>
          <p:cNvSpPr>
            <a:spLocks noGrp="1"/>
          </p:cNvSpPr>
          <p:nvPr>
            <p:ph type="sldNum" sz="quarter" idx="12"/>
          </p:nvPr>
        </p:nvSpPr>
        <p:spPr/>
        <p:txBody>
          <a:bodyPr/>
          <a:lstStyle/>
          <a:p>
            <a:fld id="{6754CD52-0E05-4E56-9EF4-700CA7ED4F36}" type="slidenum">
              <a:rPr lang="en-US" smtClean="0"/>
              <a:t>‹#›</a:t>
            </a:fld>
            <a:endParaRPr lang="en-US"/>
          </a:p>
        </p:txBody>
      </p:sp>
    </p:spTree>
    <p:extLst>
      <p:ext uri="{BB962C8B-B14F-4D97-AF65-F5344CB8AC3E}">
        <p14:creationId xmlns:p14="http://schemas.microsoft.com/office/powerpoint/2010/main" val="21005348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FB501-3141-F3BA-9F22-E812478357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4092AE-601B-1F8D-F60E-2F28A5761F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6BE8C7-1943-AE53-86BC-00ECB6C0E8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C511E4-E68E-104F-3905-BB53F962FA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9A9BE3-9E03-3E3A-5C4B-5B3303B644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E96ADA-1E0E-EA40-7F78-82D4B6C6BB54}"/>
              </a:ext>
            </a:extLst>
          </p:cNvPr>
          <p:cNvSpPr>
            <a:spLocks noGrp="1"/>
          </p:cNvSpPr>
          <p:nvPr>
            <p:ph type="dt" sz="half" idx="10"/>
          </p:nvPr>
        </p:nvSpPr>
        <p:spPr/>
        <p:txBody>
          <a:bodyPr/>
          <a:lstStyle/>
          <a:p>
            <a:fld id="{AC40B917-FA20-4077-B6B4-678DBFC335A8}" type="datetimeFigureOut">
              <a:rPr lang="en-US" smtClean="0"/>
              <a:t>7/1/2026</a:t>
            </a:fld>
            <a:endParaRPr lang="en-US"/>
          </a:p>
        </p:txBody>
      </p:sp>
      <p:sp>
        <p:nvSpPr>
          <p:cNvPr id="8" name="Footer Placeholder 7">
            <a:extLst>
              <a:ext uri="{FF2B5EF4-FFF2-40B4-BE49-F238E27FC236}">
                <a16:creationId xmlns:a16="http://schemas.microsoft.com/office/drawing/2014/main" id="{6E212330-6860-610F-FE5D-EA1EC71BA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042064-67DB-17FA-042E-E4FD26423CE2}"/>
              </a:ext>
            </a:extLst>
          </p:cNvPr>
          <p:cNvSpPr>
            <a:spLocks noGrp="1"/>
          </p:cNvSpPr>
          <p:nvPr>
            <p:ph type="sldNum" sz="quarter" idx="12"/>
          </p:nvPr>
        </p:nvSpPr>
        <p:spPr/>
        <p:txBody>
          <a:bodyPr/>
          <a:lstStyle/>
          <a:p>
            <a:fld id="{6754CD52-0E05-4E56-9EF4-700CA7ED4F36}" type="slidenum">
              <a:rPr lang="en-US" smtClean="0"/>
              <a:t>‹#›</a:t>
            </a:fld>
            <a:endParaRPr lang="en-US"/>
          </a:p>
        </p:txBody>
      </p:sp>
    </p:spTree>
    <p:extLst>
      <p:ext uri="{BB962C8B-B14F-4D97-AF65-F5344CB8AC3E}">
        <p14:creationId xmlns:p14="http://schemas.microsoft.com/office/powerpoint/2010/main" val="4072324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F1FD6-67D2-4E8C-4763-9E7AA5D5DA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27F8FA-8B6F-C879-9818-0B4603F2EE8A}"/>
              </a:ext>
            </a:extLst>
          </p:cNvPr>
          <p:cNvSpPr>
            <a:spLocks noGrp="1"/>
          </p:cNvSpPr>
          <p:nvPr>
            <p:ph type="dt" sz="half" idx="10"/>
          </p:nvPr>
        </p:nvSpPr>
        <p:spPr/>
        <p:txBody>
          <a:bodyPr/>
          <a:lstStyle/>
          <a:p>
            <a:fld id="{AC40B917-FA20-4077-B6B4-678DBFC335A8}" type="datetimeFigureOut">
              <a:rPr lang="en-US" smtClean="0"/>
              <a:t>7/1/2026</a:t>
            </a:fld>
            <a:endParaRPr lang="en-US"/>
          </a:p>
        </p:txBody>
      </p:sp>
      <p:sp>
        <p:nvSpPr>
          <p:cNvPr id="4" name="Footer Placeholder 3">
            <a:extLst>
              <a:ext uri="{FF2B5EF4-FFF2-40B4-BE49-F238E27FC236}">
                <a16:creationId xmlns:a16="http://schemas.microsoft.com/office/drawing/2014/main" id="{1299B2FE-523A-06DC-65C0-81CAF0BA6B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6AF4B8-F77B-0C55-DA66-9DAC0FD9D16B}"/>
              </a:ext>
            </a:extLst>
          </p:cNvPr>
          <p:cNvSpPr>
            <a:spLocks noGrp="1"/>
          </p:cNvSpPr>
          <p:nvPr>
            <p:ph type="sldNum" sz="quarter" idx="12"/>
          </p:nvPr>
        </p:nvSpPr>
        <p:spPr/>
        <p:txBody>
          <a:bodyPr/>
          <a:lstStyle/>
          <a:p>
            <a:fld id="{6754CD52-0E05-4E56-9EF4-700CA7ED4F36}" type="slidenum">
              <a:rPr lang="en-US" smtClean="0"/>
              <a:t>‹#›</a:t>
            </a:fld>
            <a:endParaRPr lang="en-US"/>
          </a:p>
        </p:txBody>
      </p:sp>
    </p:spTree>
    <p:extLst>
      <p:ext uri="{BB962C8B-B14F-4D97-AF65-F5344CB8AC3E}">
        <p14:creationId xmlns:p14="http://schemas.microsoft.com/office/powerpoint/2010/main" val="40237815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2980D7-B7E8-DCA6-BFAE-8899040D1B63}"/>
              </a:ext>
            </a:extLst>
          </p:cNvPr>
          <p:cNvSpPr>
            <a:spLocks noGrp="1"/>
          </p:cNvSpPr>
          <p:nvPr>
            <p:ph type="dt" sz="half" idx="10"/>
          </p:nvPr>
        </p:nvSpPr>
        <p:spPr/>
        <p:txBody>
          <a:bodyPr/>
          <a:lstStyle/>
          <a:p>
            <a:fld id="{AC40B917-FA20-4077-B6B4-678DBFC335A8}" type="datetimeFigureOut">
              <a:rPr lang="en-US" smtClean="0"/>
              <a:t>7/1/2026</a:t>
            </a:fld>
            <a:endParaRPr lang="en-US"/>
          </a:p>
        </p:txBody>
      </p:sp>
      <p:sp>
        <p:nvSpPr>
          <p:cNvPr id="3" name="Footer Placeholder 2">
            <a:extLst>
              <a:ext uri="{FF2B5EF4-FFF2-40B4-BE49-F238E27FC236}">
                <a16:creationId xmlns:a16="http://schemas.microsoft.com/office/drawing/2014/main" id="{53844808-6F1B-45B4-F925-A66AB6C0A7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BB30AD-944C-6528-BCA9-520DB8C66528}"/>
              </a:ext>
            </a:extLst>
          </p:cNvPr>
          <p:cNvSpPr>
            <a:spLocks noGrp="1"/>
          </p:cNvSpPr>
          <p:nvPr>
            <p:ph type="sldNum" sz="quarter" idx="12"/>
          </p:nvPr>
        </p:nvSpPr>
        <p:spPr/>
        <p:txBody>
          <a:bodyPr/>
          <a:lstStyle/>
          <a:p>
            <a:fld id="{6754CD52-0E05-4E56-9EF4-700CA7ED4F36}" type="slidenum">
              <a:rPr lang="en-US" smtClean="0"/>
              <a:t>‹#›</a:t>
            </a:fld>
            <a:endParaRPr lang="en-US"/>
          </a:p>
        </p:txBody>
      </p:sp>
    </p:spTree>
    <p:extLst>
      <p:ext uri="{BB962C8B-B14F-4D97-AF65-F5344CB8AC3E}">
        <p14:creationId xmlns:p14="http://schemas.microsoft.com/office/powerpoint/2010/main" val="428691733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A0EAE-9412-5C79-2337-EDD071B4CB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675C6E-EB1C-A143-0E9A-81A2FA3E12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F93FA9-809A-DC8E-E916-D2E09085ED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44DC2D-E7A8-F93B-75F3-2AFB4527C836}"/>
              </a:ext>
            </a:extLst>
          </p:cNvPr>
          <p:cNvSpPr>
            <a:spLocks noGrp="1"/>
          </p:cNvSpPr>
          <p:nvPr>
            <p:ph type="dt" sz="half" idx="10"/>
          </p:nvPr>
        </p:nvSpPr>
        <p:spPr/>
        <p:txBody>
          <a:bodyPr/>
          <a:lstStyle/>
          <a:p>
            <a:fld id="{AC40B917-FA20-4077-B6B4-678DBFC335A8}" type="datetimeFigureOut">
              <a:rPr lang="en-US" smtClean="0"/>
              <a:t>7/1/2026</a:t>
            </a:fld>
            <a:endParaRPr lang="en-US"/>
          </a:p>
        </p:txBody>
      </p:sp>
      <p:sp>
        <p:nvSpPr>
          <p:cNvPr id="6" name="Footer Placeholder 5">
            <a:extLst>
              <a:ext uri="{FF2B5EF4-FFF2-40B4-BE49-F238E27FC236}">
                <a16:creationId xmlns:a16="http://schemas.microsoft.com/office/drawing/2014/main" id="{C28E848E-E492-8E5E-EA63-771019210C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8343B9-D595-6A32-AEAF-A4F579667C90}"/>
              </a:ext>
            </a:extLst>
          </p:cNvPr>
          <p:cNvSpPr>
            <a:spLocks noGrp="1"/>
          </p:cNvSpPr>
          <p:nvPr>
            <p:ph type="sldNum" sz="quarter" idx="12"/>
          </p:nvPr>
        </p:nvSpPr>
        <p:spPr/>
        <p:txBody>
          <a:bodyPr/>
          <a:lstStyle/>
          <a:p>
            <a:fld id="{6754CD52-0E05-4E56-9EF4-700CA7ED4F36}" type="slidenum">
              <a:rPr lang="en-US" smtClean="0"/>
              <a:t>‹#›</a:t>
            </a:fld>
            <a:endParaRPr lang="en-US"/>
          </a:p>
        </p:txBody>
      </p:sp>
    </p:spTree>
    <p:extLst>
      <p:ext uri="{BB962C8B-B14F-4D97-AF65-F5344CB8AC3E}">
        <p14:creationId xmlns:p14="http://schemas.microsoft.com/office/powerpoint/2010/main" val="742912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B331-2A17-7DF3-2520-732871C236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0D00D0-A5D5-0E81-838F-378975ED26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B25958-58F5-CE4E-D880-F5E11C19BB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9FB256-D6A8-5DE5-B5AD-BCD6889D4945}"/>
              </a:ext>
            </a:extLst>
          </p:cNvPr>
          <p:cNvSpPr>
            <a:spLocks noGrp="1"/>
          </p:cNvSpPr>
          <p:nvPr>
            <p:ph type="dt" sz="half" idx="10"/>
          </p:nvPr>
        </p:nvSpPr>
        <p:spPr/>
        <p:txBody>
          <a:bodyPr/>
          <a:lstStyle/>
          <a:p>
            <a:fld id="{AC40B917-FA20-4077-B6B4-678DBFC335A8}" type="datetimeFigureOut">
              <a:rPr lang="en-US" smtClean="0"/>
              <a:t>7/1/2026</a:t>
            </a:fld>
            <a:endParaRPr lang="en-US"/>
          </a:p>
        </p:txBody>
      </p:sp>
      <p:sp>
        <p:nvSpPr>
          <p:cNvPr id="6" name="Footer Placeholder 5">
            <a:extLst>
              <a:ext uri="{FF2B5EF4-FFF2-40B4-BE49-F238E27FC236}">
                <a16:creationId xmlns:a16="http://schemas.microsoft.com/office/drawing/2014/main" id="{CB05BF88-EEE3-6C8D-946D-2E81E4801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673FDB-C100-D471-C464-B70E4EDB50CB}"/>
              </a:ext>
            </a:extLst>
          </p:cNvPr>
          <p:cNvSpPr>
            <a:spLocks noGrp="1"/>
          </p:cNvSpPr>
          <p:nvPr>
            <p:ph type="sldNum" sz="quarter" idx="12"/>
          </p:nvPr>
        </p:nvSpPr>
        <p:spPr/>
        <p:txBody>
          <a:bodyPr/>
          <a:lstStyle/>
          <a:p>
            <a:fld id="{6754CD52-0E05-4E56-9EF4-700CA7ED4F36}" type="slidenum">
              <a:rPr lang="en-US" smtClean="0"/>
              <a:t>‹#›</a:t>
            </a:fld>
            <a:endParaRPr lang="en-US"/>
          </a:p>
        </p:txBody>
      </p:sp>
    </p:spTree>
    <p:extLst>
      <p:ext uri="{BB962C8B-B14F-4D97-AF65-F5344CB8AC3E}">
        <p14:creationId xmlns:p14="http://schemas.microsoft.com/office/powerpoint/2010/main" val="21782701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320D8-E80F-5C0C-3516-01E1F281A8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7C0E76-525A-F97F-E048-3B59639E37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AEBAA8-6EF2-F9BF-8A3F-AF7322ADFBCF}"/>
              </a:ext>
            </a:extLst>
          </p:cNvPr>
          <p:cNvSpPr>
            <a:spLocks noGrp="1"/>
          </p:cNvSpPr>
          <p:nvPr>
            <p:ph type="dt" sz="half" idx="10"/>
          </p:nvPr>
        </p:nvSpPr>
        <p:spPr/>
        <p:txBody>
          <a:bodyPr/>
          <a:lstStyle/>
          <a:p>
            <a:fld id="{AC40B917-FA20-4077-B6B4-678DBFC335A8}" type="datetimeFigureOut">
              <a:rPr lang="en-US" smtClean="0"/>
              <a:t>7/1/2026</a:t>
            </a:fld>
            <a:endParaRPr lang="en-US"/>
          </a:p>
        </p:txBody>
      </p:sp>
      <p:sp>
        <p:nvSpPr>
          <p:cNvPr id="5" name="Footer Placeholder 4">
            <a:extLst>
              <a:ext uri="{FF2B5EF4-FFF2-40B4-BE49-F238E27FC236}">
                <a16:creationId xmlns:a16="http://schemas.microsoft.com/office/drawing/2014/main" id="{FE85BB5F-7420-32C2-C089-47C00CCBBA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1AEC29-2D28-9E2B-B6BF-F3CB2D3C1B68}"/>
              </a:ext>
            </a:extLst>
          </p:cNvPr>
          <p:cNvSpPr>
            <a:spLocks noGrp="1"/>
          </p:cNvSpPr>
          <p:nvPr>
            <p:ph type="sldNum" sz="quarter" idx="12"/>
          </p:nvPr>
        </p:nvSpPr>
        <p:spPr/>
        <p:txBody>
          <a:bodyPr/>
          <a:lstStyle/>
          <a:p>
            <a:fld id="{6754CD52-0E05-4E56-9EF4-700CA7ED4F36}" type="slidenum">
              <a:rPr lang="en-US" smtClean="0"/>
              <a:t>‹#›</a:t>
            </a:fld>
            <a:endParaRPr lang="en-US"/>
          </a:p>
        </p:txBody>
      </p:sp>
    </p:spTree>
    <p:extLst>
      <p:ext uri="{BB962C8B-B14F-4D97-AF65-F5344CB8AC3E}">
        <p14:creationId xmlns:p14="http://schemas.microsoft.com/office/powerpoint/2010/main" val="36165071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2D23C6-26A8-462D-D2D5-B4516329221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089D18-416B-0044-1BF8-1328A08956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C81600-CFD1-3F8F-0156-428DCD43B9CE}"/>
              </a:ext>
            </a:extLst>
          </p:cNvPr>
          <p:cNvSpPr>
            <a:spLocks noGrp="1"/>
          </p:cNvSpPr>
          <p:nvPr>
            <p:ph type="dt" sz="half" idx="10"/>
          </p:nvPr>
        </p:nvSpPr>
        <p:spPr/>
        <p:txBody>
          <a:bodyPr/>
          <a:lstStyle/>
          <a:p>
            <a:fld id="{AC40B917-FA20-4077-B6B4-678DBFC335A8}" type="datetimeFigureOut">
              <a:rPr lang="en-US" smtClean="0"/>
              <a:t>7/1/2026</a:t>
            </a:fld>
            <a:endParaRPr lang="en-US"/>
          </a:p>
        </p:txBody>
      </p:sp>
      <p:sp>
        <p:nvSpPr>
          <p:cNvPr id="5" name="Footer Placeholder 4">
            <a:extLst>
              <a:ext uri="{FF2B5EF4-FFF2-40B4-BE49-F238E27FC236}">
                <a16:creationId xmlns:a16="http://schemas.microsoft.com/office/drawing/2014/main" id="{7B9A77F7-EBAE-CAB2-D122-A6C2BD902C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1FD681-67B6-0315-5692-CA76D2558921}"/>
              </a:ext>
            </a:extLst>
          </p:cNvPr>
          <p:cNvSpPr>
            <a:spLocks noGrp="1"/>
          </p:cNvSpPr>
          <p:nvPr>
            <p:ph type="sldNum" sz="quarter" idx="12"/>
          </p:nvPr>
        </p:nvSpPr>
        <p:spPr/>
        <p:txBody>
          <a:bodyPr/>
          <a:lstStyle/>
          <a:p>
            <a:fld id="{6754CD52-0E05-4E56-9EF4-700CA7ED4F36}" type="slidenum">
              <a:rPr lang="en-US" smtClean="0"/>
              <a:t>‹#›</a:t>
            </a:fld>
            <a:endParaRPr lang="en-US"/>
          </a:p>
        </p:txBody>
      </p:sp>
    </p:spTree>
    <p:extLst>
      <p:ext uri="{BB962C8B-B14F-4D97-AF65-F5344CB8AC3E}">
        <p14:creationId xmlns:p14="http://schemas.microsoft.com/office/powerpoint/2010/main" val="16764203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DC30E0-F3D3-AFB2-270C-7F64BD9B99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F83242-2C37-B120-46F4-86EBA54B56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9DE65B-C999-BA4E-1E33-3A72301241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40B917-FA20-4077-B6B4-678DBFC335A8}" type="datetimeFigureOut">
              <a:rPr lang="en-US" smtClean="0"/>
              <a:t>7/1/2026</a:t>
            </a:fld>
            <a:endParaRPr lang="en-US"/>
          </a:p>
        </p:txBody>
      </p:sp>
      <p:sp>
        <p:nvSpPr>
          <p:cNvPr id="5" name="Footer Placeholder 4">
            <a:extLst>
              <a:ext uri="{FF2B5EF4-FFF2-40B4-BE49-F238E27FC236}">
                <a16:creationId xmlns:a16="http://schemas.microsoft.com/office/drawing/2014/main" id="{0250FDBD-235B-68FD-4E20-B101F61B6F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7C8C5A1-8289-6CEE-3463-5A20E70E90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54CD52-0E05-4E56-9EF4-700CA7ED4F36}" type="slidenum">
              <a:rPr lang="en-US" smtClean="0"/>
              <a:t>‹#›</a:t>
            </a:fld>
            <a:endParaRPr lang="en-US"/>
          </a:p>
        </p:txBody>
      </p:sp>
    </p:spTree>
    <p:extLst>
      <p:ext uri="{BB962C8B-B14F-4D97-AF65-F5344CB8AC3E}">
        <p14:creationId xmlns:p14="http://schemas.microsoft.com/office/powerpoint/2010/main" val="22323222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A2A8C3-F056-DA1E-E2FD-BC885B9133FF}"/>
              </a:ext>
            </a:extLst>
          </p:cNvPr>
          <p:cNvPicPr>
            <a:picLocks noChangeAspect="1"/>
          </p:cNvPicPr>
          <p:nvPr/>
        </p:nvPicPr>
        <p:blipFill>
          <a:blip r:embed="rId2">
            <a:extLst>
              <a:ext uri="{28A0092B-C50C-407E-A947-70E740481C1C}">
                <a14:useLocalDpi xmlns:a14="http://schemas.microsoft.com/office/drawing/2010/main" val="0"/>
              </a:ext>
            </a:extLst>
          </a:blip>
          <a:srcRect l="15386" t="2515" b="9434"/>
          <a:stretch>
            <a:fillRect/>
          </a:stretch>
        </p:blipFill>
        <p:spPr>
          <a:xfrm>
            <a:off x="0" y="0"/>
            <a:ext cx="12192000" cy="6858000"/>
          </a:xfrm>
          <a:prstGeom prst="rect">
            <a:avLst/>
          </a:prstGeom>
          <a:ln>
            <a:noFill/>
          </a:ln>
          <a:effectLst>
            <a:softEdge rad="112500"/>
          </a:effectLst>
        </p:spPr>
      </p:pic>
      <p:sp>
        <p:nvSpPr>
          <p:cNvPr id="2" name="Title 1">
            <a:extLst>
              <a:ext uri="{FF2B5EF4-FFF2-40B4-BE49-F238E27FC236}">
                <a16:creationId xmlns:a16="http://schemas.microsoft.com/office/drawing/2014/main" id="{AD220933-9B8F-9D2D-9489-3D5CEE56DE0E}"/>
              </a:ext>
            </a:extLst>
          </p:cNvPr>
          <p:cNvSpPr>
            <a:spLocks noGrp="1"/>
          </p:cNvSpPr>
          <p:nvPr>
            <p:ph type="ctrTitle"/>
          </p:nvPr>
        </p:nvSpPr>
        <p:spPr>
          <a:xfrm>
            <a:off x="4892841" y="340173"/>
            <a:ext cx="7078579" cy="2001974"/>
          </a:xfrm>
        </p:spPr>
        <p:txBody>
          <a:bodyPr>
            <a:normAutofit fontScale="90000"/>
          </a:bodyPr>
          <a:lstStyle/>
          <a:p>
            <a:r>
              <a:rPr lang="en-US" dirty="0"/>
              <a:t>PROJECT PROPOSAL ON MOVIE TICKET BOOKING SYSTEM</a:t>
            </a:r>
          </a:p>
        </p:txBody>
      </p:sp>
      <p:sp>
        <p:nvSpPr>
          <p:cNvPr id="3" name="Subtitle 2">
            <a:extLst>
              <a:ext uri="{FF2B5EF4-FFF2-40B4-BE49-F238E27FC236}">
                <a16:creationId xmlns:a16="http://schemas.microsoft.com/office/drawing/2014/main" id="{31155DD9-A171-97DF-805E-0C201918DBCA}"/>
              </a:ext>
            </a:extLst>
          </p:cNvPr>
          <p:cNvSpPr>
            <a:spLocks noGrp="1"/>
          </p:cNvSpPr>
          <p:nvPr>
            <p:ph type="subTitle" idx="1"/>
          </p:nvPr>
        </p:nvSpPr>
        <p:spPr>
          <a:xfrm>
            <a:off x="4892841" y="2342147"/>
            <a:ext cx="6801612" cy="1239894"/>
          </a:xfrm>
        </p:spPr>
        <p:txBody>
          <a:bodyPr>
            <a:normAutofit/>
          </a:bodyPr>
          <a:lstStyle/>
          <a:p>
            <a:r>
              <a:rPr lang="en-US" sz="2800" dirty="0"/>
              <a:t>BY SUHANA SHAKYA &amp; SARINA GOLE</a:t>
            </a:r>
          </a:p>
        </p:txBody>
      </p:sp>
    </p:spTree>
    <p:extLst>
      <p:ext uri="{BB962C8B-B14F-4D97-AF65-F5344CB8AC3E}">
        <p14:creationId xmlns:p14="http://schemas.microsoft.com/office/powerpoint/2010/main" val="327348896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B6286-A168-5012-DBCF-1FEDC62A4AB3}"/>
              </a:ext>
            </a:extLst>
          </p:cNvPr>
          <p:cNvSpPr>
            <a:spLocks noGrp="1"/>
          </p:cNvSpPr>
          <p:nvPr>
            <p:ph type="title"/>
          </p:nvPr>
        </p:nvSpPr>
        <p:spPr>
          <a:xfrm>
            <a:off x="940439" y="401846"/>
            <a:ext cx="5437703" cy="1152127"/>
          </a:xfrm>
          <a:noFill/>
          <a:ln>
            <a:solidFill>
              <a:srgbClr val="FFFFFF"/>
            </a:solidFill>
          </a:ln>
        </p:spPr>
        <p:txBody>
          <a:bodyPr>
            <a:normAutofit/>
          </a:bodyPr>
          <a:lstStyle/>
          <a:p>
            <a:r>
              <a:rPr lang="en-US" sz="4000" dirty="0">
                <a:solidFill>
                  <a:schemeClr val="tx1">
                    <a:lumMod val="65000"/>
                    <a:lumOff val="35000"/>
                  </a:schemeClr>
                </a:solidFill>
              </a:rPr>
              <a:t>INTRODUCTION</a:t>
            </a:r>
            <a:endParaRPr lang="en-US" dirty="0">
              <a:solidFill>
                <a:schemeClr val="tx1">
                  <a:lumMod val="65000"/>
                  <a:lumOff val="35000"/>
                </a:schemeClr>
              </a:solidFill>
            </a:endParaRPr>
          </a:p>
        </p:txBody>
      </p:sp>
      <p:sp>
        <p:nvSpPr>
          <p:cNvPr id="3" name="Content Placeholder 2">
            <a:extLst>
              <a:ext uri="{FF2B5EF4-FFF2-40B4-BE49-F238E27FC236}">
                <a16:creationId xmlns:a16="http://schemas.microsoft.com/office/drawing/2014/main" id="{26592D32-FBB8-1135-196E-C63D02659E3E}"/>
              </a:ext>
            </a:extLst>
          </p:cNvPr>
          <p:cNvSpPr>
            <a:spLocks noGrp="1"/>
          </p:cNvSpPr>
          <p:nvPr>
            <p:ph idx="1"/>
          </p:nvPr>
        </p:nvSpPr>
        <p:spPr>
          <a:xfrm>
            <a:off x="805494" y="2353578"/>
            <a:ext cx="5290506" cy="4504422"/>
          </a:xfrm>
        </p:spPr>
        <p:txBody>
          <a:bodyPr>
            <a:normAutofit/>
          </a:bodyPr>
          <a:lstStyle/>
          <a:p>
            <a:pPr algn="just"/>
            <a:r>
              <a:rPr lang="en-US" sz="2400" dirty="0"/>
              <a:t>This project, titled Movie Ticket Booking System, is a web-based system designed to allow users to browse movie, choose cinema halls, view showtimes, select seats, and book tickets online through a simple and user-friendly interface. </a:t>
            </a:r>
          </a:p>
          <a:p>
            <a:pPr algn="just"/>
            <a:endParaRPr lang="en-US" sz="2400" dirty="0">
              <a:solidFill>
                <a:srgbClr val="FFFFFF"/>
              </a:solidFill>
            </a:endParaRPr>
          </a:p>
        </p:txBody>
      </p:sp>
      <p:sp>
        <p:nvSpPr>
          <p:cNvPr id="5" name="TextBox 4">
            <a:extLst>
              <a:ext uri="{FF2B5EF4-FFF2-40B4-BE49-F238E27FC236}">
                <a16:creationId xmlns:a16="http://schemas.microsoft.com/office/drawing/2014/main" id="{342357FB-B642-CDDF-11D2-B358006FF2D7}"/>
              </a:ext>
            </a:extLst>
          </p:cNvPr>
          <p:cNvSpPr txBox="1"/>
          <p:nvPr/>
        </p:nvSpPr>
        <p:spPr>
          <a:xfrm>
            <a:off x="7648603" y="2376040"/>
            <a:ext cx="4010526" cy="2677656"/>
          </a:xfrm>
          <a:prstGeom prst="rect">
            <a:avLst/>
          </a:prstGeom>
          <a:noFill/>
        </p:spPr>
        <p:txBody>
          <a:bodyPr wrap="square" rtlCol="0">
            <a:spAutoFit/>
          </a:bodyPr>
          <a:lstStyle/>
          <a:p>
            <a:pPr marL="285750" lvl="0" indent="-285750" algn="ctr">
              <a:buFont typeface="Arial" panose="020B0604020202020204" pitchFamily="34" charset="0"/>
              <a:buChar char="•"/>
            </a:pPr>
            <a:r>
              <a:rPr lang="en-US" sz="2400" dirty="0"/>
              <a:t>To provide a centralized platform for multiple cinema halls.</a:t>
            </a:r>
          </a:p>
          <a:p>
            <a:pPr marL="285750" lvl="0" indent="-285750" algn="ctr">
              <a:buFont typeface="Arial" panose="020B0604020202020204" pitchFamily="34" charset="0"/>
              <a:buChar char="•"/>
            </a:pPr>
            <a:r>
              <a:rPr lang="en-US" sz="2400" dirty="0"/>
              <a:t>To display available movies and show schedules.</a:t>
            </a:r>
          </a:p>
          <a:p>
            <a:pPr marL="285750" lvl="0" indent="-285750" algn="ctr">
              <a:buFont typeface="Arial" panose="020B0604020202020204" pitchFamily="34" charset="0"/>
              <a:buChar char="•"/>
            </a:pPr>
            <a:r>
              <a:rPr lang="en-US" sz="2400" dirty="0"/>
              <a:t>To enable seat selection and ticket booking.</a:t>
            </a:r>
          </a:p>
        </p:txBody>
      </p:sp>
      <p:sp>
        <p:nvSpPr>
          <p:cNvPr id="6" name="Title 1">
            <a:extLst>
              <a:ext uri="{FF2B5EF4-FFF2-40B4-BE49-F238E27FC236}">
                <a16:creationId xmlns:a16="http://schemas.microsoft.com/office/drawing/2014/main" id="{CD67E658-DE44-060B-1942-7EAF2881DFF7}"/>
              </a:ext>
            </a:extLst>
          </p:cNvPr>
          <p:cNvSpPr txBox="1">
            <a:spLocks/>
          </p:cNvSpPr>
          <p:nvPr/>
        </p:nvSpPr>
        <p:spPr bwMode="black">
          <a:xfrm>
            <a:off x="7888496" y="978568"/>
            <a:ext cx="3530739" cy="825736"/>
          </a:xfrm>
          <a:prstGeom prst="rect">
            <a:avLst/>
          </a:prstGeom>
          <a:noFill/>
          <a:ln w="31750" cap="sq">
            <a:solidFill>
              <a:srgbClr val="FFFFFF"/>
            </a:solid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n-US" sz="2000" dirty="0">
                <a:solidFill>
                  <a:srgbClr val="FFFFFF"/>
                </a:solidFill>
              </a:rPr>
              <a:t>OBJECTIVES</a:t>
            </a:r>
            <a:endParaRPr lang="en-US" sz="1400" dirty="0">
              <a:solidFill>
                <a:srgbClr val="FFFFFF"/>
              </a:solidFill>
            </a:endParaRPr>
          </a:p>
        </p:txBody>
      </p:sp>
    </p:spTree>
    <p:extLst>
      <p:ext uri="{BB962C8B-B14F-4D97-AF65-F5344CB8AC3E}">
        <p14:creationId xmlns:p14="http://schemas.microsoft.com/office/powerpoint/2010/main" val="17635097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5" grpId="0"/>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0367C769-A752-F4E5-3B99-1626E7CFA37E}"/>
              </a:ext>
            </a:extLst>
          </p:cNvPr>
          <p:cNvSpPr/>
          <p:nvPr/>
        </p:nvSpPr>
        <p:spPr>
          <a:xfrm>
            <a:off x="1283186" y="994666"/>
            <a:ext cx="9946288" cy="5463028"/>
          </a:xfrm>
          <a:prstGeom prst="ellipse">
            <a:avLst/>
          </a:prstGeom>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4" name="Content Placeholder 2">
            <a:extLst>
              <a:ext uri="{FF2B5EF4-FFF2-40B4-BE49-F238E27FC236}">
                <a16:creationId xmlns:a16="http://schemas.microsoft.com/office/drawing/2014/main" id="{82968D6A-B1A7-F4BA-4E57-8C248B21077A}"/>
              </a:ext>
            </a:extLst>
          </p:cNvPr>
          <p:cNvSpPr txBox="1">
            <a:spLocks/>
          </p:cNvSpPr>
          <p:nvPr/>
        </p:nvSpPr>
        <p:spPr>
          <a:xfrm>
            <a:off x="2532229" y="1960169"/>
            <a:ext cx="7895139" cy="3532022"/>
          </a:xfrm>
          <a:prstGeom prst="rect">
            <a:avLst/>
          </a:prstGeom>
          <a:ln>
            <a:solidFill>
              <a:schemeClr val="bg2"/>
            </a:solid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2800" dirty="0">
                <a:solidFill>
                  <a:schemeClr val="tx1">
                    <a:lumMod val="65000"/>
                    <a:lumOff val="35000"/>
                  </a:schemeClr>
                </a:solidFill>
              </a:rPr>
              <a:t>The system will:</a:t>
            </a:r>
          </a:p>
          <a:p>
            <a:r>
              <a:rPr lang="en-US" sz="2800" dirty="0">
                <a:solidFill>
                  <a:schemeClr val="tx1">
                    <a:lumMod val="65000"/>
                    <a:lumOff val="35000"/>
                  </a:schemeClr>
                </a:solidFill>
              </a:rPr>
              <a:t>Support multiple cinema halls.</a:t>
            </a:r>
          </a:p>
          <a:p>
            <a:r>
              <a:rPr lang="en-US" sz="2800" dirty="0">
                <a:solidFill>
                  <a:schemeClr val="tx1">
                    <a:lumMod val="65000"/>
                    <a:lumOff val="35000"/>
                  </a:schemeClr>
                </a:solidFill>
              </a:rPr>
              <a:t>Allow users to browse available movies.</a:t>
            </a:r>
          </a:p>
          <a:p>
            <a:r>
              <a:rPr lang="en-US" sz="2800" dirty="0">
                <a:solidFill>
                  <a:schemeClr val="tx1">
                    <a:lumMod val="65000"/>
                    <a:lumOff val="35000"/>
                  </a:schemeClr>
                </a:solidFill>
              </a:rPr>
              <a:t>Display show schedules and ticket prices.</a:t>
            </a:r>
          </a:p>
          <a:p>
            <a:r>
              <a:rPr lang="en-US" sz="2800" dirty="0">
                <a:solidFill>
                  <a:schemeClr val="tx1">
                    <a:lumMod val="65000"/>
                    <a:lumOff val="35000"/>
                  </a:schemeClr>
                </a:solidFill>
              </a:rPr>
              <a:t>Provide seat selection functionality.</a:t>
            </a:r>
          </a:p>
          <a:p>
            <a:r>
              <a:rPr lang="en-US" sz="2800" dirty="0">
                <a:solidFill>
                  <a:schemeClr val="tx1">
                    <a:lumMod val="65000"/>
                    <a:lumOff val="35000"/>
                  </a:schemeClr>
                </a:solidFill>
              </a:rPr>
              <a:t>Provide an administrator panel for managing movies, halls, and show schedules.</a:t>
            </a:r>
          </a:p>
        </p:txBody>
      </p:sp>
      <p:sp>
        <p:nvSpPr>
          <p:cNvPr id="16" name="Title 15">
            <a:extLst>
              <a:ext uri="{FF2B5EF4-FFF2-40B4-BE49-F238E27FC236}">
                <a16:creationId xmlns:a16="http://schemas.microsoft.com/office/drawing/2014/main" id="{BCE43BA4-4B82-5B2F-8486-2A56F3C3CF40}"/>
              </a:ext>
            </a:extLst>
          </p:cNvPr>
          <p:cNvSpPr>
            <a:spLocks noGrp="1"/>
          </p:cNvSpPr>
          <p:nvPr>
            <p:ph type="title"/>
          </p:nvPr>
        </p:nvSpPr>
        <p:spPr>
          <a:xfrm>
            <a:off x="2231136" y="400306"/>
            <a:ext cx="7729728" cy="1188720"/>
          </a:xfrm>
        </p:spPr>
        <p:txBody>
          <a:bodyPr>
            <a:normAutofit/>
          </a:bodyPr>
          <a:lstStyle/>
          <a:p>
            <a:r>
              <a:rPr lang="en-US" sz="3200" dirty="0">
                <a:solidFill>
                  <a:schemeClr val="tx1">
                    <a:lumMod val="65000"/>
                    <a:lumOff val="35000"/>
                  </a:schemeClr>
                </a:solidFill>
              </a:rPr>
              <a:t>SCOPE</a:t>
            </a:r>
          </a:p>
        </p:txBody>
      </p:sp>
    </p:spTree>
    <p:extLst>
      <p:ext uri="{BB962C8B-B14F-4D97-AF65-F5344CB8AC3E}">
        <p14:creationId xmlns:p14="http://schemas.microsoft.com/office/powerpoint/2010/main" val="35836677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32D58E-FDE0-EB74-0948-9EEAB8D422E1}"/>
              </a:ext>
            </a:extLst>
          </p:cNvPr>
          <p:cNvSpPr>
            <a:spLocks noGrp="1"/>
          </p:cNvSpPr>
          <p:nvPr>
            <p:ph idx="1"/>
          </p:nvPr>
        </p:nvSpPr>
        <p:spPr>
          <a:xfrm>
            <a:off x="353732" y="1605280"/>
            <a:ext cx="4602776" cy="5252722"/>
          </a:xfrm>
        </p:spPr>
        <p:txBody>
          <a:bodyPr anchor="ctr">
            <a:normAutofit/>
          </a:bodyPr>
          <a:lstStyle/>
          <a:p>
            <a:pPr marL="0" indent="0" algn="ctr">
              <a:buNone/>
            </a:pPr>
            <a:r>
              <a:rPr lang="en-US" sz="2400" b="1" dirty="0">
                <a:solidFill>
                  <a:schemeClr val="tx1"/>
                </a:solidFill>
              </a:rPr>
              <a:t>User Module</a:t>
            </a:r>
            <a:endParaRPr lang="en-US" sz="2400" dirty="0">
              <a:solidFill>
                <a:schemeClr val="tx1"/>
              </a:solidFill>
            </a:endParaRPr>
          </a:p>
          <a:p>
            <a:pPr marL="342900" indent="-342900">
              <a:buFont typeface="+mj-lt"/>
              <a:buAutoNum type="arabicPeriod"/>
            </a:pPr>
            <a:r>
              <a:rPr lang="en-US" sz="2400" dirty="0">
                <a:solidFill>
                  <a:schemeClr val="tx1"/>
                </a:solidFill>
              </a:rPr>
              <a:t>View movie details and cinema halls showing selected movies.</a:t>
            </a:r>
          </a:p>
          <a:p>
            <a:pPr marL="342900" indent="-342900">
              <a:buFont typeface="+mj-lt"/>
              <a:buAutoNum type="arabicPeriod"/>
            </a:pPr>
            <a:r>
              <a:rPr lang="en-US" sz="2400" dirty="0">
                <a:solidFill>
                  <a:schemeClr val="tx1"/>
                </a:solidFill>
              </a:rPr>
              <a:t>Book movie tickets.</a:t>
            </a:r>
          </a:p>
          <a:p>
            <a:pPr marL="342900" indent="-342900">
              <a:buFont typeface="+mj-lt"/>
              <a:buAutoNum type="arabicPeriod"/>
            </a:pPr>
            <a:endParaRPr lang="en-US" sz="2400" dirty="0">
              <a:solidFill>
                <a:schemeClr val="tx1"/>
              </a:solidFill>
            </a:endParaRPr>
          </a:p>
          <a:p>
            <a:pPr marL="0" indent="0" algn="ctr">
              <a:buNone/>
            </a:pPr>
            <a:r>
              <a:rPr lang="en-US" sz="2400" b="1" dirty="0">
                <a:solidFill>
                  <a:schemeClr val="tx1"/>
                </a:solidFill>
              </a:rPr>
              <a:t>Administrator Module</a:t>
            </a:r>
            <a:endParaRPr lang="en-US" sz="2400" dirty="0">
              <a:solidFill>
                <a:schemeClr val="tx1"/>
              </a:solidFill>
            </a:endParaRPr>
          </a:p>
          <a:p>
            <a:pPr marL="342900" lvl="0" indent="-342900">
              <a:buFont typeface="+mj-lt"/>
              <a:buAutoNum type="arabicPeriod"/>
            </a:pPr>
            <a:r>
              <a:rPr lang="en-US" sz="2400" dirty="0">
                <a:solidFill>
                  <a:schemeClr val="tx1"/>
                </a:solidFill>
              </a:rPr>
              <a:t>Add, update, and delete movies.</a:t>
            </a:r>
          </a:p>
          <a:p>
            <a:pPr marL="342900" lvl="0" indent="-342900">
              <a:buFont typeface="+mj-lt"/>
              <a:buAutoNum type="arabicPeriod"/>
            </a:pPr>
            <a:r>
              <a:rPr lang="en-US" sz="2400" dirty="0">
                <a:solidFill>
                  <a:schemeClr val="tx1"/>
                </a:solidFill>
              </a:rPr>
              <a:t>Manage cinema halls and show schedules.</a:t>
            </a:r>
          </a:p>
          <a:p>
            <a:endParaRPr lang="en-US" sz="2000" dirty="0">
              <a:solidFill>
                <a:schemeClr val="tx1"/>
              </a:solidFill>
            </a:endParaRPr>
          </a:p>
        </p:txBody>
      </p:sp>
      <p:sp>
        <p:nvSpPr>
          <p:cNvPr id="6" name="Title 1">
            <a:extLst>
              <a:ext uri="{FF2B5EF4-FFF2-40B4-BE49-F238E27FC236}">
                <a16:creationId xmlns:a16="http://schemas.microsoft.com/office/drawing/2014/main" id="{8D408C24-8DBD-5ED2-13E1-CCAD4FCE6F49}"/>
              </a:ext>
            </a:extLst>
          </p:cNvPr>
          <p:cNvSpPr txBox="1">
            <a:spLocks/>
          </p:cNvSpPr>
          <p:nvPr/>
        </p:nvSpPr>
        <p:spPr bwMode="black">
          <a:xfrm>
            <a:off x="821724" y="398031"/>
            <a:ext cx="3698803" cy="974103"/>
          </a:xfrm>
          <a:prstGeom prst="rect">
            <a:avLst/>
          </a:prstGeom>
          <a:noFill/>
          <a:ln w="31750" cap="sq">
            <a:solidFill>
              <a:schemeClr val="tx1"/>
            </a:solidFill>
            <a:miter lim="800000"/>
          </a:ln>
        </p:spPr>
        <p:txBody>
          <a:bodyPr vert="horz" lIns="182880" tIns="182880" rIns="182880" bIns="182880" rtlCol="0" anchor="ctr">
            <a:noAutofit/>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n-US" dirty="0">
                <a:solidFill>
                  <a:schemeClr val="tx1"/>
                </a:solidFill>
              </a:rPr>
              <a:t>Functional Requirement</a:t>
            </a:r>
          </a:p>
        </p:txBody>
      </p:sp>
      <p:sp>
        <p:nvSpPr>
          <p:cNvPr id="11" name="Title 1">
            <a:extLst>
              <a:ext uri="{FF2B5EF4-FFF2-40B4-BE49-F238E27FC236}">
                <a16:creationId xmlns:a16="http://schemas.microsoft.com/office/drawing/2014/main" id="{3C85AD0C-A857-11B5-07FD-FCF9081CF004}"/>
              </a:ext>
            </a:extLst>
          </p:cNvPr>
          <p:cNvSpPr txBox="1">
            <a:spLocks/>
          </p:cNvSpPr>
          <p:nvPr/>
        </p:nvSpPr>
        <p:spPr bwMode="black">
          <a:xfrm>
            <a:off x="6904128" y="430115"/>
            <a:ext cx="3698803" cy="942019"/>
          </a:xfrm>
          <a:prstGeom prst="rect">
            <a:avLst/>
          </a:prstGeom>
          <a:noFill/>
          <a:ln w="31750" cap="sq">
            <a:solidFill>
              <a:schemeClr val="bg1"/>
            </a:solidFill>
            <a:miter lim="800000"/>
          </a:ln>
        </p:spPr>
        <p:txBody>
          <a:bodyPr vert="horz" lIns="182880" tIns="182880" rIns="182880" bIns="182880" rtlCol="0" anchor="ctr">
            <a:noAutofit/>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n-US" sz="2400" dirty="0">
                <a:solidFill>
                  <a:schemeClr val="tx1">
                    <a:lumMod val="65000"/>
                    <a:lumOff val="35000"/>
                  </a:schemeClr>
                </a:solidFill>
              </a:rPr>
              <a:t>NON Functional Requirement</a:t>
            </a:r>
          </a:p>
        </p:txBody>
      </p:sp>
      <p:sp>
        <p:nvSpPr>
          <p:cNvPr id="12" name="TextBox 11">
            <a:extLst>
              <a:ext uri="{FF2B5EF4-FFF2-40B4-BE49-F238E27FC236}">
                <a16:creationId xmlns:a16="http://schemas.microsoft.com/office/drawing/2014/main" id="{2D3B9184-0BC6-87B6-DF9D-1FAEDD9D8A30}"/>
              </a:ext>
            </a:extLst>
          </p:cNvPr>
          <p:cNvSpPr txBox="1"/>
          <p:nvPr/>
        </p:nvSpPr>
        <p:spPr>
          <a:xfrm>
            <a:off x="5839326" y="1885561"/>
            <a:ext cx="5550568" cy="5013232"/>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US" sz="2400" dirty="0">
                <a:solidFill>
                  <a:schemeClr val="tx1">
                    <a:lumMod val="65000"/>
                    <a:lumOff val="35000"/>
                  </a:schemeClr>
                </a:solidFill>
              </a:rPr>
              <a:t>The system should respond to user requests within a few seconds.</a:t>
            </a:r>
          </a:p>
          <a:p>
            <a:pPr marL="285750" lvl="0" indent="-285750" algn="just">
              <a:lnSpc>
                <a:spcPct val="150000"/>
              </a:lnSpc>
              <a:buFont typeface="Arial" panose="020B0604020202020204" pitchFamily="34" charset="0"/>
              <a:buChar char="•"/>
            </a:pPr>
            <a:r>
              <a:rPr lang="en-US" sz="2400" dirty="0">
                <a:solidFill>
                  <a:schemeClr val="tx1">
                    <a:lumMod val="65000"/>
                    <a:lumOff val="35000"/>
                  </a:schemeClr>
                </a:solidFill>
              </a:rPr>
              <a:t>Authentication should be required for booking operations.</a:t>
            </a:r>
          </a:p>
          <a:p>
            <a:pPr marL="285750" indent="-285750" algn="just">
              <a:lnSpc>
                <a:spcPct val="150000"/>
              </a:lnSpc>
              <a:buFont typeface="Arial" panose="020B0604020202020204" pitchFamily="34" charset="0"/>
              <a:buChar char="•"/>
            </a:pPr>
            <a:r>
              <a:rPr lang="en-US" sz="2400" dirty="0">
                <a:solidFill>
                  <a:schemeClr val="tx1">
                    <a:lumMod val="65000"/>
                    <a:lumOff val="35000"/>
                  </a:schemeClr>
                </a:solidFill>
              </a:rPr>
              <a:t>The interface should be simple and user-friendly.</a:t>
            </a:r>
          </a:p>
          <a:p>
            <a:pPr marL="285750" indent="-285750" algn="just">
              <a:lnSpc>
                <a:spcPct val="150000"/>
              </a:lnSpc>
              <a:buFont typeface="Arial" panose="020B0604020202020204" pitchFamily="34" charset="0"/>
              <a:buChar char="•"/>
            </a:pPr>
            <a:r>
              <a:rPr lang="en-US" sz="2400" dirty="0">
                <a:solidFill>
                  <a:schemeClr val="tx1">
                    <a:lumMod val="65000"/>
                    <a:lumOff val="35000"/>
                  </a:schemeClr>
                </a:solidFill>
              </a:rPr>
              <a:t>The system should be accessible whenever users need to book tickets.</a:t>
            </a:r>
          </a:p>
          <a:p>
            <a:pPr lvl="0" algn="just">
              <a:lnSpc>
                <a:spcPct val="150000"/>
              </a:lnSpc>
            </a:pPr>
            <a:endParaRPr lang="en-US" sz="2400" dirty="0">
              <a:solidFill>
                <a:schemeClr val="tx1">
                  <a:lumMod val="65000"/>
                  <a:lumOff val="35000"/>
                </a:schemeClr>
              </a:solidFill>
            </a:endParaRPr>
          </a:p>
        </p:txBody>
      </p:sp>
      <p:sp>
        <p:nvSpPr>
          <p:cNvPr id="13" name="Rectangle 12">
            <a:extLst>
              <a:ext uri="{FF2B5EF4-FFF2-40B4-BE49-F238E27FC236}">
                <a16:creationId xmlns:a16="http://schemas.microsoft.com/office/drawing/2014/main" id="{B7E56163-05D7-9837-C814-C685A065EABF}"/>
              </a:ext>
            </a:extLst>
          </p:cNvPr>
          <p:cNvSpPr/>
          <p:nvPr/>
        </p:nvSpPr>
        <p:spPr>
          <a:xfrm>
            <a:off x="4837020" y="0"/>
            <a:ext cx="1002306" cy="6858000"/>
          </a:xfrm>
          <a:prstGeom prst="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999573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anim calcmode="lin" valueType="num">
                                      <p:cBhvr>
                                        <p:cTn id="47" dur="1000" fill="hold"/>
                                        <p:tgtEl>
                                          <p:spTgt spid="11"/>
                                        </p:tgtEl>
                                        <p:attrNameLst>
                                          <p:attrName>ppt_x</p:attrName>
                                        </p:attrNameLst>
                                      </p:cBhvr>
                                      <p:tavLst>
                                        <p:tav tm="0">
                                          <p:val>
                                            <p:strVal val="#ppt_x"/>
                                          </p:val>
                                        </p:tav>
                                        <p:tav tm="100000">
                                          <p:val>
                                            <p:strVal val="#ppt_x"/>
                                          </p:val>
                                        </p:tav>
                                      </p:tavLst>
                                    </p:anim>
                                    <p:anim calcmode="lin" valueType="num">
                                      <p:cBhvr>
                                        <p:cTn id="4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1000"/>
                                        <p:tgtEl>
                                          <p:spTgt spid="12"/>
                                        </p:tgtEl>
                                      </p:cBhvr>
                                    </p:animEffect>
                                    <p:anim calcmode="lin" valueType="num">
                                      <p:cBhvr>
                                        <p:cTn id="54" dur="1000" fill="hold"/>
                                        <p:tgtEl>
                                          <p:spTgt spid="12"/>
                                        </p:tgtEl>
                                        <p:attrNameLst>
                                          <p:attrName>ppt_x</p:attrName>
                                        </p:attrNameLst>
                                      </p:cBhvr>
                                      <p:tavLst>
                                        <p:tav tm="0">
                                          <p:val>
                                            <p:strVal val="#ppt_x"/>
                                          </p:val>
                                        </p:tav>
                                        <p:tav tm="100000">
                                          <p:val>
                                            <p:strVal val="#ppt_x"/>
                                          </p:val>
                                        </p:tav>
                                      </p:tavLst>
                                    </p:anim>
                                    <p:anim calcmode="lin" valueType="num">
                                      <p:cBhvr>
                                        <p:cTn id="5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11" grpId="0" animBg="1"/>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115BC-4695-E178-B291-CCF8F7069209}"/>
              </a:ext>
            </a:extLst>
          </p:cNvPr>
          <p:cNvSpPr>
            <a:spLocks noGrp="1"/>
          </p:cNvSpPr>
          <p:nvPr>
            <p:ph type="title"/>
          </p:nvPr>
        </p:nvSpPr>
        <p:spPr>
          <a:xfrm>
            <a:off x="2231135" y="152265"/>
            <a:ext cx="7729728" cy="617365"/>
          </a:xfrm>
        </p:spPr>
        <p:txBody>
          <a:bodyPr>
            <a:normAutofit fontScale="90000"/>
          </a:bodyPr>
          <a:lstStyle/>
          <a:p>
            <a:r>
              <a:rPr lang="en-US" dirty="0">
                <a:solidFill>
                  <a:schemeClr val="tx1">
                    <a:lumMod val="65000"/>
                    <a:lumOff val="35000"/>
                  </a:schemeClr>
                </a:solidFill>
              </a:rPr>
              <a:t>USECASE DIAGRAM</a:t>
            </a:r>
          </a:p>
        </p:txBody>
      </p:sp>
      <p:pic>
        <p:nvPicPr>
          <p:cNvPr id="6" name="Content Placeholder 5">
            <a:extLst>
              <a:ext uri="{FF2B5EF4-FFF2-40B4-BE49-F238E27FC236}">
                <a16:creationId xmlns:a16="http://schemas.microsoft.com/office/drawing/2014/main" id="{9ABFCD0A-4159-A607-E801-D4DCC1FDCA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1135" y="891015"/>
            <a:ext cx="7362044" cy="5966985"/>
          </a:xfrm>
          <a:prstGeom prst="rect">
            <a:avLst/>
          </a:prstGeom>
        </p:spPr>
      </p:pic>
    </p:spTree>
    <p:extLst>
      <p:ext uri="{BB962C8B-B14F-4D97-AF65-F5344CB8AC3E}">
        <p14:creationId xmlns:p14="http://schemas.microsoft.com/office/powerpoint/2010/main" val="407338674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B50D0-056F-D6D3-CC32-A376273B4530}"/>
              </a:ext>
            </a:extLst>
          </p:cNvPr>
          <p:cNvSpPr>
            <a:spLocks noGrp="1"/>
          </p:cNvSpPr>
          <p:nvPr>
            <p:ph type="title"/>
          </p:nvPr>
        </p:nvSpPr>
        <p:spPr>
          <a:xfrm>
            <a:off x="2027936" y="166406"/>
            <a:ext cx="7729728" cy="472222"/>
          </a:xfrm>
        </p:spPr>
        <p:txBody>
          <a:bodyPr>
            <a:normAutofit fontScale="90000"/>
          </a:bodyPr>
          <a:lstStyle/>
          <a:p>
            <a:r>
              <a:rPr lang="en-US" dirty="0">
                <a:solidFill>
                  <a:schemeClr val="tx1">
                    <a:lumMod val="65000"/>
                    <a:lumOff val="35000"/>
                  </a:schemeClr>
                </a:solidFill>
              </a:rPr>
              <a:t>ENTITY RELATIONSHIP DIAGRAM</a:t>
            </a:r>
          </a:p>
        </p:txBody>
      </p:sp>
      <p:pic>
        <p:nvPicPr>
          <p:cNvPr id="7" name="Content Placeholder 6">
            <a:extLst>
              <a:ext uri="{FF2B5EF4-FFF2-40B4-BE49-F238E27FC236}">
                <a16:creationId xmlns:a16="http://schemas.microsoft.com/office/drawing/2014/main" id="{0C79AC8E-0995-C30A-AD71-99940F67A4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1136" y="698786"/>
            <a:ext cx="7729728" cy="6062390"/>
          </a:xfrm>
          <a:prstGeom prst="rect">
            <a:avLst/>
          </a:prstGeom>
        </p:spPr>
      </p:pic>
    </p:spTree>
    <p:extLst>
      <p:ext uri="{BB962C8B-B14F-4D97-AF65-F5344CB8AC3E}">
        <p14:creationId xmlns:p14="http://schemas.microsoft.com/office/powerpoint/2010/main" val="32269915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82868-274A-060D-CD55-F39CEBA9A8D4}"/>
              </a:ext>
            </a:extLst>
          </p:cNvPr>
          <p:cNvSpPr>
            <a:spLocks noGrp="1"/>
          </p:cNvSpPr>
          <p:nvPr>
            <p:ph type="title"/>
          </p:nvPr>
        </p:nvSpPr>
        <p:spPr>
          <a:xfrm>
            <a:off x="3615425" y="339816"/>
            <a:ext cx="5650121" cy="675422"/>
          </a:xfrm>
        </p:spPr>
        <p:txBody>
          <a:bodyPr>
            <a:normAutofit fontScale="90000"/>
          </a:bodyPr>
          <a:lstStyle/>
          <a:p>
            <a:r>
              <a:rPr lang="en-US" dirty="0">
                <a:solidFill>
                  <a:schemeClr val="tx1">
                    <a:lumMod val="65000"/>
                    <a:lumOff val="35000"/>
                  </a:schemeClr>
                </a:solidFill>
              </a:rPr>
              <a:t>DATA FLOW DIAGRAM</a:t>
            </a:r>
          </a:p>
        </p:txBody>
      </p:sp>
      <p:pic>
        <p:nvPicPr>
          <p:cNvPr id="7" name="Picture 6">
            <a:extLst>
              <a:ext uri="{FF2B5EF4-FFF2-40B4-BE49-F238E27FC236}">
                <a16:creationId xmlns:a16="http://schemas.microsoft.com/office/drawing/2014/main" id="{40D0DA56-7D2F-8551-176C-DFD561D801A5}"/>
              </a:ext>
            </a:extLst>
          </p:cNvPr>
          <p:cNvPicPr>
            <a:picLocks noChangeAspect="1"/>
          </p:cNvPicPr>
          <p:nvPr/>
        </p:nvPicPr>
        <p:blipFill>
          <a:blip r:embed="rId2"/>
          <a:srcRect b="77766"/>
          <a:stretch>
            <a:fillRect/>
          </a:stretch>
        </p:blipFill>
        <p:spPr>
          <a:xfrm>
            <a:off x="1182108" y="1804736"/>
            <a:ext cx="9981606" cy="4038026"/>
          </a:xfrm>
          <a:prstGeom prst="rect">
            <a:avLst/>
          </a:prstGeom>
        </p:spPr>
      </p:pic>
    </p:spTree>
    <p:extLst>
      <p:ext uri="{BB962C8B-B14F-4D97-AF65-F5344CB8AC3E}">
        <p14:creationId xmlns:p14="http://schemas.microsoft.com/office/powerpoint/2010/main" val="406591236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2FBDEA-49A6-2FE5-0F62-A431B4ACF96D}"/>
              </a:ext>
            </a:extLst>
          </p:cNvPr>
          <p:cNvPicPr>
            <a:picLocks noChangeAspect="1"/>
          </p:cNvPicPr>
          <p:nvPr/>
        </p:nvPicPr>
        <p:blipFill>
          <a:blip r:embed="rId2"/>
          <a:srcRect t="21339"/>
          <a:stretch>
            <a:fillRect/>
          </a:stretch>
        </p:blipFill>
        <p:spPr>
          <a:xfrm>
            <a:off x="2130184" y="0"/>
            <a:ext cx="8072595" cy="6858000"/>
          </a:xfrm>
          <a:prstGeom prst="rect">
            <a:avLst/>
          </a:prstGeom>
        </p:spPr>
      </p:pic>
    </p:spTree>
    <p:extLst>
      <p:ext uri="{BB962C8B-B14F-4D97-AF65-F5344CB8AC3E}">
        <p14:creationId xmlns:p14="http://schemas.microsoft.com/office/powerpoint/2010/main" val="260135342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4B334-A791-A062-F01A-5DE980C22EEB}"/>
              </a:ext>
            </a:extLst>
          </p:cNvPr>
          <p:cNvSpPr>
            <a:spLocks noGrp="1"/>
          </p:cNvSpPr>
          <p:nvPr>
            <p:ph type="title"/>
          </p:nvPr>
        </p:nvSpPr>
        <p:spPr>
          <a:xfrm>
            <a:off x="4128115" y="309092"/>
            <a:ext cx="3621506" cy="623476"/>
          </a:xfrm>
        </p:spPr>
        <p:txBody>
          <a:bodyPr>
            <a:normAutofit fontScale="90000"/>
          </a:bodyPr>
          <a:lstStyle/>
          <a:p>
            <a:r>
              <a:rPr lang="en-US" dirty="0">
                <a:solidFill>
                  <a:schemeClr val="tx1">
                    <a:lumMod val="65000"/>
                    <a:lumOff val="35000"/>
                  </a:schemeClr>
                </a:solidFill>
              </a:rPr>
              <a:t>Feasibility Study</a:t>
            </a:r>
          </a:p>
        </p:txBody>
      </p:sp>
      <p:sp>
        <p:nvSpPr>
          <p:cNvPr id="3" name="Content Placeholder 2">
            <a:extLst>
              <a:ext uri="{FF2B5EF4-FFF2-40B4-BE49-F238E27FC236}">
                <a16:creationId xmlns:a16="http://schemas.microsoft.com/office/drawing/2014/main" id="{61714457-76E3-C7DC-644D-9B4AA36236B3}"/>
              </a:ext>
            </a:extLst>
          </p:cNvPr>
          <p:cNvSpPr>
            <a:spLocks noGrp="1"/>
          </p:cNvSpPr>
          <p:nvPr>
            <p:ph idx="1"/>
          </p:nvPr>
        </p:nvSpPr>
        <p:spPr>
          <a:xfrm>
            <a:off x="270630" y="2624287"/>
            <a:ext cx="3921011" cy="3101983"/>
          </a:xfrm>
        </p:spPr>
        <p:txBody>
          <a:bodyPr>
            <a:normAutofit/>
          </a:bodyPr>
          <a:lstStyle/>
          <a:p>
            <a:pPr marL="0" indent="0" algn="just">
              <a:buNone/>
            </a:pPr>
            <a:r>
              <a:rPr lang="en-US" sz="2400" dirty="0">
                <a:solidFill>
                  <a:schemeClr val="tx1">
                    <a:lumMod val="65000"/>
                    <a:lumOff val="35000"/>
                  </a:schemeClr>
                </a:solidFill>
              </a:rPr>
              <a:t>The Movie Ticket Booking System can be developed using technologies such as: HTML, CSS, JavaScript for Frontend, PHP for Backend,  MySQL for Database &amp; XAMPP Server.</a:t>
            </a:r>
          </a:p>
          <a:p>
            <a:pPr marL="0" indent="0" algn="just">
              <a:buNone/>
            </a:pPr>
            <a:endParaRPr lang="en-US" sz="2400" dirty="0">
              <a:solidFill>
                <a:schemeClr val="tx1">
                  <a:lumMod val="65000"/>
                  <a:lumOff val="35000"/>
                </a:schemeClr>
              </a:solidFill>
            </a:endParaRPr>
          </a:p>
        </p:txBody>
      </p:sp>
      <p:sp>
        <p:nvSpPr>
          <p:cNvPr id="4" name="Title 1">
            <a:extLst>
              <a:ext uri="{FF2B5EF4-FFF2-40B4-BE49-F238E27FC236}">
                <a16:creationId xmlns:a16="http://schemas.microsoft.com/office/drawing/2014/main" id="{6EF4317A-6B48-DE03-4D3A-D31DE8D76F23}"/>
              </a:ext>
            </a:extLst>
          </p:cNvPr>
          <p:cNvSpPr txBox="1">
            <a:spLocks/>
          </p:cNvSpPr>
          <p:nvPr/>
        </p:nvSpPr>
        <p:spPr bwMode="black">
          <a:xfrm>
            <a:off x="282021" y="1128683"/>
            <a:ext cx="3921011" cy="623476"/>
          </a:xfrm>
          <a:prstGeom prst="rect">
            <a:avLst/>
          </a:prstGeom>
          <a:solidFill>
            <a:srgbClr val="FFFFFF"/>
          </a:solidFill>
          <a:ln w="31750" cap="sq">
            <a:solidFill>
              <a:srgbClr val="404040"/>
            </a:solidFill>
            <a:miter lim="800000"/>
          </a:ln>
        </p:spPr>
        <p:txBody>
          <a:bodyPr vert="horz" lIns="182880" tIns="182880" rIns="182880" bIns="182880" rtlCol="0" anchor="ctr">
            <a:normAutofit fontScale="75000" lnSpcReduction="200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n-US" dirty="0">
                <a:solidFill>
                  <a:schemeClr val="tx1">
                    <a:lumMod val="65000"/>
                    <a:lumOff val="35000"/>
                  </a:schemeClr>
                </a:solidFill>
              </a:rPr>
              <a:t>Technical Feasibility</a:t>
            </a:r>
          </a:p>
        </p:txBody>
      </p:sp>
      <p:sp>
        <p:nvSpPr>
          <p:cNvPr id="6" name="Title 1">
            <a:extLst>
              <a:ext uri="{FF2B5EF4-FFF2-40B4-BE49-F238E27FC236}">
                <a16:creationId xmlns:a16="http://schemas.microsoft.com/office/drawing/2014/main" id="{45E50004-CE1B-F896-0ABC-B9BF2F3844D8}"/>
              </a:ext>
            </a:extLst>
          </p:cNvPr>
          <p:cNvSpPr txBox="1">
            <a:spLocks/>
          </p:cNvSpPr>
          <p:nvPr/>
        </p:nvSpPr>
        <p:spPr bwMode="black">
          <a:xfrm>
            <a:off x="7749621" y="1147211"/>
            <a:ext cx="3921011" cy="623476"/>
          </a:xfrm>
          <a:prstGeom prst="rect">
            <a:avLst/>
          </a:prstGeom>
          <a:solidFill>
            <a:srgbClr val="FFFFFF"/>
          </a:solidFill>
          <a:ln w="31750" cap="sq">
            <a:solidFill>
              <a:srgbClr val="404040"/>
            </a:solidFill>
            <a:miter lim="800000"/>
          </a:ln>
        </p:spPr>
        <p:txBody>
          <a:bodyPr vert="horz" lIns="182880" tIns="182880" rIns="182880" bIns="182880" rtlCol="0" anchor="ctr">
            <a:normAutofit fontScale="75000" lnSpcReduction="200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n-US" dirty="0">
                <a:solidFill>
                  <a:schemeClr val="tx1">
                    <a:lumMod val="65000"/>
                    <a:lumOff val="35000"/>
                  </a:schemeClr>
                </a:solidFill>
              </a:rPr>
              <a:t>ECONOMIC Feasibility</a:t>
            </a:r>
          </a:p>
        </p:txBody>
      </p:sp>
      <p:sp>
        <p:nvSpPr>
          <p:cNvPr id="7" name="Content Placeholder 2">
            <a:extLst>
              <a:ext uri="{FF2B5EF4-FFF2-40B4-BE49-F238E27FC236}">
                <a16:creationId xmlns:a16="http://schemas.microsoft.com/office/drawing/2014/main" id="{D45FCC11-DE9B-2C0E-F2C6-474301BA5394}"/>
              </a:ext>
            </a:extLst>
          </p:cNvPr>
          <p:cNvSpPr txBox="1">
            <a:spLocks/>
          </p:cNvSpPr>
          <p:nvPr/>
        </p:nvSpPr>
        <p:spPr>
          <a:xfrm>
            <a:off x="7936832" y="2608806"/>
            <a:ext cx="3921011" cy="310198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457200" indent="-457200" algn="just">
              <a:buAutoNum type="arabicPeriod"/>
            </a:pPr>
            <a:r>
              <a:rPr lang="en-US" sz="2400" dirty="0">
                <a:solidFill>
                  <a:schemeClr val="tx1">
                    <a:lumMod val="65000"/>
                    <a:lumOff val="35000"/>
                  </a:schemeClr>
                </a:solidFill>
              </a:rPr>
              <a:t>The project relies entirely on open-source and freely available technologies.</a:t>
            </a:r>
          </a:p>
          <a:p>
            <a:pPr marL="514350" indent="-514350" algn="just">
              <a:buAutoNum type="arabicPeriod"/>
            </a:pPr>
            <a:r>
              <a:rPr lang="en-US" sz="2400" dirty="0">
                <a:solidFill>
                  <a:schemeClr val="tx1">
                    <a:lumMod val="65000"/>
                    <a:lumOff val="35000"/>
                  </a:schemeClr>
                </a:solidFill>
              </a:rPr>
              <a:t>Minimal recurring costs</a:t>
            </a:r>
          </a:p>
          <a:p>
            <a:pPr marL="514350" indent="-514350" algn="just">
              <a:buAutoNum type="arabicPeriod"/>
            </a:pPr>
            <a:r>
              <a:rPr lang="en-US" sz="2400" dirty="0">
                <a:solidFill>
                  <a:schemeClr val="tx1">
                    <a:lumMod val="65000"/>
                    <a:lumOff val="35000"/>
                  </a:schemeClr>
                </a:solidFill>
              </a:rPr>
              <a:t>Long-term benefits</a:t>
            </a:r>
          </a:p>
          <a:p>
            <a:pPr marL="514350" indent="-514350" algn="just">
              <a:buAutoNum type="arabicPeriod"/>
            </a:pPr>
            <a:r>
              <a:rPr lang="en-US" sz="2400" dirty="0">
                <a:solidFill>
                  <a:schemeClr val="tx1">
                    <a:lumMod val="65000"/>
                    <a:lumOff val="35000"/>
                  </a:schemeClr>
                </a:solidFill>
              </a:rPr>
              <a:t>Relatively low investment required</a:t>
            </a:r>
            <a:endParaRPr lang="en-US" sz="3200" dirty="0">
              <a:solidFill>
                <a:schemeClr val="tx1">
                  <a:lumMod val="65000"/>
                  <a:lumOff val="35000"/>
                </a:schemeClr>
              </a:solidFill>
            </a:endParaRPr>
          </a:p>
        </p:txBody>
      </p:sp>
      <p:sp>
        <p:nvSpPr>
          <p:cNvPr id="9" name="Title 1">
            <a:extLst>
              <a:ext uri="{FF2B5EF4-FFF2-40B4-BE49-F238E27FC236}">
                <a16:creationId xmlns:a16="http://schemas.microsoft.com/office/drawing/2014/main" id="{AA765F42-E3E6-372A-5DB6-43626F18DF34}"/>
              </a:ext>
            </a:extLst>
          </p:cNvPr>
          <p:cNvSpPr txBox="1">
            <a:spLocks/>
          </p:cNvSpPr>
          <p:nvPr/>
        </p:nvSpPr>
        <p:spPr bwMode="black">
          <a:xfrm>
            <a:off x="3626800" y="1876485"/>
            <a:ext cx="4310032" cy="623476"/>
          </a:xfrm>
          <a:prstGeom prst="rect">
            <a:avLst/>
          </a:prstGeom>
          <a:solidFill>
            <a:srgbClr val="FFFFFF"/>
          </a:solidFill>
          <a:ln w="31750" cap="sq">
            <a:solidFill>
              <a:srgbClr val="404040"/>
            </a:solidFill>
            <a:miter lim="800000"/>
          </a:ln>
        </p:spPr>
        <p:txBody>
          <a:bodyPr vert="horz" lIns="182880" tIns="182880" rIns="182880" bIns="182880" rtlCol="0" anchor="ctr">
            <a:normAutofit fontScale="75000" lnSpcReduction="20000"/>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n-US" dirty="0" err="1">
                <a:solidFill>
                  <a:schemeClr val="tx1">
                    <a:lumMod val="65000"/>
                    <a:lumOff val="35000"/>
                  </a:schemeClr>
                </a:solidFill>
              </a:rPr>
              <a:t>OperAtional</a:t>
            </a:r>
            <a:r>
              <a:rPr lang="en-US" dirty="0">
                <a:solidFill>
                  <a:schemeClr val="tx1">
                    <a:lumMod val="65000"/>
                    <a:lumOff val="35000"/>
                  </a:schemeClr>
                </a:solidFill>
              </a:rPr>
              <a:t> Feasibility</a:t>
            </a:r>
          </a:p>
        </p:txBody>
      </p:sp>
      <p:sp>
        <p:nvSpPr>
          <p:cNvPr id="10" name="TextBox 9">
            <a:extLst>
              <a:ext uri="{FF2B5EF4-FFF2-40B4-BE49-F238E27FC236}">
                <a16:creationId xmlns:a16="http://schemas.microsoft.com/office/drawing/2014/main" id="{41D2102B-DE3B-CE28-D7E3-03A5AA0CA144}"/>
              </a:ext>
            </a:extLst>
          </p:cNvPr>
          <p:cNvSpPr txBox="1"/>
          <p:nvPr/>
        </p:nvSpPr>
        <p:spPr>
          <a:xfrm>
            <a:off x="4668253" y="3224463"/>
            <a:ext cx="2887579" cy="2308324"/>
          </a:xfrm>
          <a:prstGeom prst="rect">
            <a:avLst/>
          </a:prstGeom>
          <a:noFill/>
        </p:spPr>
        <p:txBody>
          <a:bodyPr wrap="square" rtlCol="0">
            <a:spAutoFit/>
          </a:bodyPr>
          <a:lstStyle/>
          <a:p>
            <a:pPr algn="just"/>
            <a:r>
              <a:rPr lang="en-US" sz="2400" dirty="0">
                <a:solidFill>
                  <a:schemeClr val="tx1">
                    <a:lumMod val="65000"/>
                    <a:lumOff val="35000"/>
                  </a:schemeClr>
                </a:solidFill>
              </a:rPr>
              <a:t>Easy user adaptation as they are already familiar with basic web navigation and similar ecommerce booking style</a:t>
            </a:r>
          </a:p>
        </p:txBody>
      </p:sp>
    </p:spTree>
    <p:extLst>
      <p:ext uri="{BB962C8B-B14F-4D97-AF65-F5344CB8AC3E}">
        <p14:creationId xmlns:p14="http://schemas.microsoft.com/office/powerpoint/2010/main" val="22298560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1000"/>
                                        <p:tgtEl>
                                          <p:spTgt spid="6"/>
                                        </p:tgtEl>
                                      </p:cBhvr>
                                    </p:animEffect>
                                    <p:anim calcmode="lin" valueType="num">
                                      <p:cBhvr>
                                        <p:cTn id="43" dur="1000" fill="hold"/>
                                        <p:tgtEl>
                                          <p:spTgt spid="6"/>
                                        </p:tgtEl>
                                        <p:attrNameLst>
                                          <p:attrName>ppt_x</p:attrName>
                                        </p:attrNameLst>
                                      </p:cBhvr>
                                      <p:tavLst>
                                        <p:tav tm="0">
                                          <p:val>
                                            <p:strVal val="#ppt_x"/>
                                          </p:val>
                                        </p:tav>
                                        <p:tav tm="100000">
                                          <p:val>
                                            <p:strVal val="#ppt_x"/>
                                          </p:val>
                                        </p:tav>
                                      </p:tavLst>
                                    </p:anim>
                                    <p:anim calcmode="lin" valueType="num">
                                      <p:cBhvr>
                                        <p:cTn id="4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1000"/>
                                        <p:tgtEl>
                                          <p:spTgt spid="7"/>
                                        </p:tgtEl>
                                      </p:cBhvr>
                                    </p:animEffect>
                                    <p:anim calcmode="lin" valueType="num">
                                      <p:cBhvr>
                                        <p:cTn id="50" dur="1000" fill="hold"/>
                                        <p:tgtEl>
                                          <p:spTgt spid="7"/>
                                        </p:tgtEl>
                                        <p:attrNameLst>
                                          <p:attrName>ppt_x</p:attrName>
                                        </p:attrNameLst>
                                      </p:cBhvr>
                                      <p:tavLst>
                                        <p:tav tm="0">
                                          <p:val>
                                            <p:strVal val="#ppt_x"/>
                                          </p:val>
                                        </p:tav>
                                        <p:tav tm="100000">
                                          <p:val>
                                            <p:strVal val="#ppt_x"/>
                                          </p:val>
                                        </p:tav>
                                      </p:tavLst>
                                    </p:anim>
                                    <p:anim calcmode="lin" valueType="num">
                                      <p:cBhvr>
                                        <p:cTn id="5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7" grpId="0"/>
      <p:bldP spid="9" grpId="0" animBg="1"/>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0"/>
                <a:lumOff val="100000"/>
              </a:schemeClr>
            </a:gs>
            <a:gs pos="0">
              <a:schemeClr val="accent2">
                <a:lumMod val="0"/>
                <a:lumOff val="100000"/>
              </a:schemeClr>
            </a:gs>
            <a:gs pos="100000">
              <a:schemeClr val="accent2">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FEC335-2461-43E7-F56C-7135A38781E9}"/>
              </a:ext>
            </a:extLst>
          </p:cNvPr>
          <p:cNvSpPr/>
          <p:nvPr/>
        </p:nvSpPr>
        <p:spPr>
          <a:xfrm>
            <a:off x="6096000" y="0"/>
            <a:ext cx="6096000" cy="6858000"/>
          </a:xfrm>
          <a:prstGeom prst="rect">
            <a:avLst/>
          </a:prstGeom>
          <a:effectLst>
            <a:outerShdw blurRad="50800" dist="38100" dir="13500000" algn="br"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6" name="Title 5">
            <a:extLst>
              <a:ext uri="{FF2B5EF4-FFF2-40B4-BE49-F238E27FC236}">
                <a16:creationId xmlns:a16="http://schemas.microsoft.com/office/drawing/2014/main" id="{CAFAE860-47DD-6C9D-5B7C-30C3EA864330}"/>
              </a:ext>
            </a:extLst>
          </p:cNvPr>
          <p:cNvSpPr>
            <a:spLocks noGrp="1"/>
          </p:cNvSpPr>
          <p:nvPr>
            <p:ph type="title"/>
          </p:nvPr>
        </p:nvSpPr>
        <p:spPr>
          <a:xfrm>
            <a:off x="3033241" y="210713"/>
            <a:ext cx="7729728" cy="655561"/>
          </a:xfrm>
        </p:spPr>
        <p:txBody>
          <a:bodyPr>
            <a:normAutofit fontScale="90000"/>
          </a:bodyPr>
          <a:lstStyle/>
          <a:p>
            <a:r>
              <a:rPr lang="en-US" dirty="0"/>
              <a:t>SYSTEM DEVELOPMENT TOOLS</a:t>
            </a:r>
          </a:p>
        </p:txBody>
      </p:sp>
      <p:sp>
        <p:nvSpPr>
          <p:cNvPr id="7" name="TextBox 6">
            <a:extLst>
              <a:ext uri="{FF2B5EF4-FFF2-40B4-BE49-F238E27FC236}">
                <a16:creationId xmlns:a16="http://schemas.microsoft.com/office/drawing/2014/main" id="{D7037BC9-17C6-0293-7306-7504A02B9215}"/>
              </a:ext>
            </a:extLst>
          </p:cNvPr>
          <p:cNvSpPr txBox="1"/>
          <p:nvPr/>
        </p:nvSpPr>
        <p:spPr>
          <a:xfrm>
            <a:off x="593559" y="1076987"/>
            <a:ext cx="11181346" cy="1938992"/>
          </a:xfrm>
          <a:prstGeom prst="rect">
            <a:avLst/>
          </a:prstGeom>
          <a:noFill/>
        </p:spPr>
        <p:txBody>
          <a:bodyPr wrap="square" rtlCol="0">
            <a:spAutoFit/>
          </a:bodyPr>
          <a:lstStyle/>
          <a:p>
            <a:pPr algn="ctr"/>
            <a:r>
              <a:rPr lang="en-US" sz="2400" dirty="0" err="1"/>
              <a:t>i</a:t>
            </a:r>
            <a:r>
              <a:rPr lang="en-US" sz="2400" dirty="0"/>
              <a:t>. Front End Development</a:t>
            </a:r>
          </a:p>
          <a:p>
            <a:pPr algn="ctr"/>
            <a:r>
              <a:rPr lang="en-US" sz="2400" dirty="0"/>
              <a:t>HTML will be used to build the structural components of the interface, such as movie listing pages, seat selection layouts, and login/registration pages, while CSS will handle the visual presentation, including colors, fonts, and spacing.</a:t>
            </a:r>
          </a:p>
          <a:p>
            <a:pPr algn="ctr"/>
            <a:endParaRPr lang="en-US" sz="2400" dirty="0"/>
          </a:p>
        </p:txBody>
      </p:sp>
      <p:sp>
        <p:nvSpPr>
          <p:cNvPr id="9" name="TextBox 8">
            <a:extLst>
              <a:ext uri="{FF2B5EF4-FFF2-40B4-BE49-F238E27FC236}">
                <a16:creationId xmlns:a16="http://schemas.microsoft.com/office/drawing/2014/main" id="{AE082F30-24D0-FD0B-A658-8925209450EA}"/>
              </a:ext>
            </a:extLst>
          </p:cNvPr>
          <p:cNvSpPr txBox="1"/>
          <p:nvPr/>
        </p:nvSpPr>
        <p:spPr>
          <a:xfrm>
            <a:off x="593559" y="3226692"/>
            <a:ext cx="11197390" cy="1938992"/>
          </a:xfrm>
          <a:prstGeom prst="rect">
            <a:avLst/>
          </a:prstGeom>
          <a:noFill/>
        </p:spPr>
        <p:txBody>
          <a:bodyPr wrap="square" rtlCol="0">
            <a:spAutoFit/>
          </a:bodyPr>
          <a:lstStyle/>
          <a:p>
            <a:pPr algn="ctr"/>
            <a:r>
              <a:rPr lang="en-US" sz="2400" dirty="0"/>
              <a:t>ii. Back End Development</a:t>
            </a:r>
          </a:p>
          <a:p>
            <a:pPr algn="ctr"/>
            <a:r>
              <a:rPr lang="en-US" sz="2400" dirty="0"/>
              <a:t>PHP will handle core functionalities including user authentication, validating user input, implementing booking logic (such as checking seat availability before confirming a booking), and connecting to the MySQL database to retrieve and store data.</a:t>
            </a:r>
          </a:p>
          <a:p>
            <a:pPr algn="ctr"/>
            <a:endParaRPr lang="en-US" sz="2400" dirty="0"/>
          </a:p>
        </p:txBody>
      </p:sp>
      <p:sp>
        <p:nvSpPr>
          <p:cNvPr id="10" name="TextBox 9">
            <a:extLst>
              <a:ext uri="{FF2B5EF4-FFF2-40B4-BE49-F238E27FC236}">
                <a16:creationId xmlns:a16="http://schemas.microsoft.com/office/drawing/2014/main" id="{CF6AA06A-2179-8FB8-FFB8-08A9E4BA109A}"/>
              </a:ext>
            </a:extLst>
          </p:cNvPr>
          <p:cNvSpPr txBox="1"/>
          <p:nvPr/>
        </p:nvSpPr>
        <p:spPr>
          <a:xfrm>
            <a:off x="593560" y="5376397"/>
            <a:ext cx="11197390" cy="1200329"/>
          </a:xfrm>
          <a:prstGeom prst="rect">
            <a:avLst/>
          </a:prstGeom>
          <a:noFill/>
        </p:spPr>
        <p:txBody>
          <a:bodyPr wrap="square" rtlCol="0">
            <a:spAutoFit/>
          </a:bodyPr>
          <a:lstStyle/>
          <a:p>
            <a:pPr algn="ctr"/>
            <a:r>
              <a:rPr lang="en-US" sz="2400" dirty="0"/>
              <a:t>iii. Database</a:t>
            </a:r>
          </a:p>
          <a:p>
            <a:pPr algn="ctr"/>
            <a:r>
              <a:rPr lang="en-US" sz="2400" dirty="0"/>
              <a:t>MySQL will store all persistent data related to users, admins, movies, theaters, shows, seats, bookings, and payments, structured according to the ER model described</a:t>
            </a:r>
          </a:p>
        </p:txBody>
      </p:sp>
    </p:spTree>
    <p:extLst>
      <p:ext uri="{BB962C8B-B14F-4D97-AF65-F5344CB8AC3E}">
        <p14:creationId xmlns:p14="http://schemas.microsoft.com/office/powerpoint/2010/main" val="200685799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48C18-F72C-EE0E-0CE8-44127711129B}"/>
              </a:ext>
            </a:extLst>
          </p:cNvPr>
          <p:cNvSpPr>
            <a:spLocks noGrp="1"/>
          </p:cNvSpPr>
          <p:nvPr>
            <p:ph type="title"/>
          </p:nvPr>
        </p:nvSpPr>
        <p:spPr>
          <a:xfrm>
            <a:off x="4737524" y="338248"/>
            <a:ext cx="7729728" cy="1188720"/>
          </a:xfrm>
        </p:spPr>
        <p:txBody>
          <a:bodyPr/>
          <a:lstStyle/>
          <a:p>
            <a:r>
              <a:rPr lang="en-US" dirty="0"/>
              <a:t>CONCLUSION</a:t>
            </a:r>
          </a:p>
        </p:txBody>
      </p:sp>
      <p:sp>
        <p:nvSpPr>
          <p:cNvPr id="4" name="Rectangle: Rounded Corners 3">
            <a:extLst>
              <a:ext uri="{FF2B5EF4-FFF2-40B4-BE49-F238E27FC236}">
                <a16:creationId xmlns:a16="http://schemas.microsoft.com/office/drawing/2014/main" id="{54759340-3682-8263-5E37-AFA162F820EF}"/>
              </a:ext>
            </a:extLst>
          </p:cNvPr>
          <p:cNvSpPr/>
          <p:nvPr/>
        </p:nvSpPr>
        <p:spPr>
          <a:xfrm>
            <a:off x="1349828" y="2090057"/>
            <a:ext cx="9492343" cy="3403227"/>
          </a:xfrm>
          <a:prstGeom prst="roundRect">
            <a:avLst/>
          </a:prstGeom>
          <a:ln>
            <a:solidFill>
              <a:schemeClr val="bg2">
                <a:lumMod val="9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800" dirty="0">
                <a:solidFill>
                  <a:schemeClr val="tx1"/>
                </a:solidFill>
              </a:rPr>
              <a:t>The proposed Online Movie Ticket Booking System will provide a centralized platform for booking movie tickets across multiple cinema halls. Users will be able to view movies, compare showtimes, select seats, and book tickets efficiently. Cinema administrators will be able to manage movies, schedules, and booking records through a dedicated administration panel.</a:t>
            </a:r>
          </a:p>
        </p:txBody>
      </p:sp>
    </p:spTree>
    <p:extLst>
      <p:ext uri="{BB962C8B-B14F-4D97-AF65-F5344CB8AC3E}">
        <p14:creationId xmlns:p14="http://schemas.microsoft.com/office/powerpoint/2010/main" val="422081616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200</TotalTime>
  <Words>482</Words>
  <Application>Microsoft Office PowerPoint</Application>
  <PresentationFormat>Widescreen</PresentationFormat>
  <Paragraphs>50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PROJECT PROPOSAL ON MOVIE TICKET BOOKING SYSTEM</vt:lpstr>
      <vt:lpstr>INTRODUCTION</vt:lpstr>
      <vt:lpstr>SCOPE</vt:lpstr>
      <vt:lpstr>PowerPoint Presentation</vt:lpstr>
      <vt:lpstr>USECASE DIAGRAM</vt:lpstr>
      <vt:lpstr>ENTITY RELATIONSHIP DIAGRAM</vt:lpstr>
      <vt:lpstr>DATA FLOW DIAGRAM</vt:lpstr>
      <vt:lpstr>PowerPoint Presentation</vt:lpstr>
      <vt:lpstr>Feasibility Study</vt:lpstr>
      <vt:lpstr>SYSTEM DEVELOPMENT TOOLS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Suhana Shakya</dc:creator>
  <cp:lastModifiedBy>Suhana Shakya</cp:lastModifiedBy>
  <cp:revision>7</cp:revision>
  <dcterms:created xsi:type="dcterms:W3CDTF">2026-06-26T02:52:18Z</dcterms:created>
  <dcterms:modified xsi:type="dcterms:W3CDTF">2026-07-01T11:52:25Z</dcterms:modified>
</cp:coreProperties>
</file>